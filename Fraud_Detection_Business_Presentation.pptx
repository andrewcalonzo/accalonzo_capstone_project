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945" r:id="rId1"/>
  </p:sldMasterIdLst>
  <p:sldIdLst>
    <p:sldId id="256" r:id="rId2"/>
    <p:sldId id="257" r:id="rId3"/>
    <p:sldId id="274" r:id="rId4"/>
    <p:sldId id="258" r:id="rId5"/>
    <p:sldId id="261" r:id="rId6"/>
    <p:sldId id="275" r:id="rId7"/>
    <p:sldId id="264" r:id="rId8"/>
    <p:sldId id="266" r:id="rId9"/>
    <p:sldId id="267" r:id="rId10"/>
    <p:sldId id="268" r:id="rId11"/>
    <p:sldId id="270" r:id="rId12"/>
    <p:sldId id="276" r:id="rId13"/>
    <p:sldId id="27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147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545639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69590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4074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88201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85175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622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77190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382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85402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0365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77336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2071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07592079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26032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75287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52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03648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46" r:id="rId1"/>
    <p:sldLayoutId id="2147483947" r:id="rId2"/>
    <p:sldLayoutId id="2147483948" r:id="rId3"/>
    <p:sldLayoutId id="2147483949" r:id="rId4"/>
    <p:sldLayoutId id="2147483950" r:id="rId5"/>
    <p:sldLayoutId id="2147483951" r:id="rId6"/>
    <p:sldLayoutId id="2147483952" r:id="rId7"/>
    <p:sldLayoutId id="2147483953" r:id="rId8"/>
    <p:sldLayoutId id="2147483954" r:id="rId9"/>
    <p:sldLayoutId id="2147483955" r:id="rId10"/>
    <p:sldLayoutId id="2147483956" r:id="rId11"/>
    <p:sldLayoutId id="2147483957" r:id="rId12"/>
    <p:sldLayoutId id="2147483958" r:id="rId13"/>
    <p:sldLayoutId id="2147483959" r:id="rId14"/>
    <p:sldLayoutId id="2147483960" r:id="rId15"/>
    <p:sldLayoutId id="214748396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C279ACC-3808-4D06-9E4F-C0188F4738A3}"/>
              </a:ext>
            </a:extLst>
          </p:cNvPr>
          <p:cNvSpPr/>
          <p:nvPr/>
        </p:nvSpPr>
        <p:spPr>
          <a:xfrm>
            <a:off x="583405" y="2660650"/>
            <a:ext cx="6915150" cy="120015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418" y="2959100"/>
            <a:ext cx="7777164" cy="1320800"/>
          </a:xfrm>
        </p:spPr>
        <p:txBody>
          <a:bodyPr>
            <a:normAutofit/>
          </a:bodyPr>
          <a:lstStyle/>
          <a:p>
            <a:r>
              <a:rPr sz="2800" dirty="0">
                <a:solidFill>
                  <a:schemeClr val="bg1"/>
                </a:solidFill>
              </a:rPr>
              <a:t>Fraud Detection in Banking Transactions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11" y="1674815"/>
            <a:ext cx="7248528" cy="4573585"/>
          </a:xfrm>
        </p:spPr>
        <p:txBody>
          <a:bodyPr>
            <a:normAutofit lnSpcReduction="10000"/>
          </a:bodyPr>
          <a:lstStyle/>
          <a:p>
            <a:r>
              <a:rPr lang="en-US" dirty="0"/>
              <a:t>Financial fraud is a major challenge in banking, causing billions in losses annually</a:t>
            </a:r>
          </a:p>
          <a:p>
            <a:r>
              <a:rPr lang="en-US" dirty="0"/>
              <a:t>Both customers and institutions are harmed by evolving fraud tactics</a:t>
            </a:r>
          </a:p>
          <a:p>
            <a:r>
              <a:rPr lang="en-US" dirty="0"/>
              <a:t>Fraud detection is difficult as fraudsters adapt continuously</a:t>
            </a:r>
          </a:p>
          <a:p>
            <a:r>
              <a:rPr lang="en-US" dirty="0"/>
              <a:t>Traditional ML models struggle due to class imbalance (fraud cases are rare)</a:t>
            </a:r>
          </a:p>
          <a:p>
            <a:r>
              <a:rPr lang="en-US" dirty="0"/>
              <a:t>Project goal: develop a fraud detection model using </a:t>
            </a:r>
            <a:r>
              <a:rPr lang="en-US" dirty="0" err="1"/>
              <a:t>FraudShield_Banking_DataFocus</a:t>
            </a:r>
            <a:r>
              <a:rPr lang="en-US" dirty="0"/>
              <a:t>: improve recall for fraud cases while maintaining reasonable precision</a:t>
            </a:r>
          </a:p>
          <a:p>
            <a:endParaRPr lang="en-US" dirty="0"/>
          </a:p>
          <a:p>
            <a:endParaRPr lang="en-US" dirty="0"/>
          </a:p>
          <a:p>
            <a:pPr marL="0" indent="0">
              <a:buNone/>
            </a:pPr>
            <a:r>
              <a:rPr lang="en-US" sz="1400" i="1" dirty="0"/>
              <a:t>*(Source: https://www.kaggle.com/datasets/zahranusratt/banking-fraud-detection-dataset)</a:t>
            </a:r>
          </a:p>
          <a:p>
            <a:pPr marL="0" indent="0"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Success Metrics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11" y="1457326"/>
            <a:ext cx="7248528" cy="4933950"/>
          </a:xfrm>
        </p:spPr>
        <p:txBody>
          <a:bodyPr>
            <a:normAutofit fontScale="40000" lnSpcReduction="20000"/>
          </a:bodyPr>
          <a:lstStyle/>
          <a:p>
            <a:pPr marL="0" indent="0" algn="l">
              <a:buNone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Business Metrics</a:t>
            </a:r>
            <a:endParaRPr lang="en-US" sz="4800" b="0" i="0" dirty="0">
              <a:solidFill>
                <a:srgbClr val="1F2328"/>
              </a:solidFill>
              <a:effectLst/>
              <a:latin typeface="Mona Sans VF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Fraud Detection Rate (FDR)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— Measures how effectively the system identifies actual fraudulent transactions.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False Positive Rate (FPR)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— Shows how many legitimate transactions are incorrectly flagged as fraud.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False Negative Rate (FNR)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— Indicates how many fraudulent transactions the system fails to detect.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Financial Loss Prevented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— Represents the total monetary value saved by catching fraudulent transactions.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Cost of Fraud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— Captures the financial impact of undetected fraud and related operational expenses.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Fraud‑to‑Review Ratio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— Shows the proportion of true fraud cases among all transactions sent for review.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4800" b="1" i="0" dirty="0">
                <a:solidFill>
                  <a:srgbClr val="1F2328"/>
                </a:solidFill>
                <a:effectLst/>
                <a:latin typeface="Mona Sans VF"/>
              </a:rPr>
              <a:t>ROI of Fraud Detection System</a:t>
            </a:r>
            <a:r>
              <a:rPr lang="en-US" sz="4800" b="0" i="0" dirty="0">
                <a:solidFill>
                  <a:srgbClr val="1F2328"/>
                </a:solidFill>
                <a:effectLst/>
                <a:latin typeface="Mona Sans VF"/>
              </a:rPr>
              <a:t> — Evaluates whether the fraud detection system generates more financial benefit than it costs.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9398639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30362"/>
            <a:ext cx="7062789" cy="3880773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Key challenges identified in the dataset and current processes: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Fraud cases are extremely rare (~20:1 imbalance)</a:t>
            </a:r>
          </a:p>
          <a:p>
            <a:r>
              <a:rPr lang="en-US" dirty="0"/>
              <a:t>“47,573 normal vs. 2,423 fraudulent (~20:1 imbalance)”</a:t>
            </a:r>
          </a:p>
          <a:p>
            <a:r>
              <a:rPr lang="en-US" dirty="0"/>
              <a:t>Traditional ML models fail to detect fraud (recall = 0%)</a:t>
            </a:r>
          </a:p>
          <a:p>
            <a:r>
              <a:rPr lang="en-US" dirty="0"/>
              <a:t>High volume of missing data requiring robust preprocessing</a:t>
            </a:r>
          </a:p>
          <a:p>
            <a:r>
              <a:rPr lang="en-US" dirty="0"/>
              <a:t>Mix of numerical &amp; categorical features complicates modeling</a:t>
            </a:r>
          </a:p>
          <a:p>
            <a:r>
              <a:rPr lang="en-US" dirty="0"/>
              <a:t>High-cardinality IDs risk overfitting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 Goal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14476"/>
            <a:ext cx="6347714" cy="4312575"/>
          </a:xfrm>
        </p:spPr>
        <p:txBody>
          <a:bodyPr>
            <a:normAutofit/>
          </a:bodyPr>
          <a:lstStyle/>
          <a:p>
            <a:r>
              <a:rPr lang="en-US" dirty="0"/>
              <a:t>Primary Objective: Maximize fraud recall (catch more fraud) while maintaining acceptable precision.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Why recall matters: Missing a fraudulent transaction is far more costly than reviewing a legitimate one.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Model Breakthrough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14476"/>
            <a:ext cx="6347714" cy="4312575"/>
          </a:xfrm>
        </p:spPr>
        <p:txBody>
          <a:bodyPr>
            <a:normAutofit/>
          </a:bodyPr>
          <a:lstStyle/>
          <a:p>
            <a:r>
              <a:rPr lang="en-US" dirty="0"/>
              <a:t>After multiple failed attempts with Random Forest + SMOTE/ADASYN: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 err="1"/>
              <a:t>BalancedBaggingClassifier</a:t>
            </a:r>
            <a:r>
              <a:rPr lang="en-US" dirty="0"/>
              <a:t> delivered the first meaningful results.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Initial recall: 23.52%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-After tuning: 57.16%</a:t>
            </a:r>
          </a:p>
          <a:p>
            <a:pPr lvl="2">
              <a:buFont typeface="Wingdings" panose="05000000000000000000" pitchFamily="2" charset="2"/>
              <a:buChar char="q"/>
            </a:pPr>
            <a:r>
              <a:rPr lang="en-US" dirty="0"/>
              <a:t>“Fraud recall: 57.16% (major improvement, &gt; half of fraud cases detected)”</a:t>
            </a:r>
          </a:p>
        </p:txBody>
      </p:sp>
    </p:spTree>
    <p:extLst>
      <p:ext uri="{BB962C8B-B14F-4D97-AF65-F5344CB8AC3E}">
        <p14:creationId xmlns:p14="http://schemas.microsoft.com/office/powerpoint/2010/main" val="119337538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Final Model Performance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4043364"/>
            <a:ext cx="7005639" cy="101441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Key insight: The model is intentionally tuned to maximize fraud detection, accepting more false positives to reduce financial loss.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7D4398-7174-4764-91D2-5F15D3AFB9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99" y="1571471"/>
            <a:ext cx="6691314" cy="220058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Financial Impact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3899" y="1488613"/>
            <a:ext cx="6748464" cy="3880773"/>
          </a:xfrm>
        </p:spPr>
        <p:txBody>
          <a:bodyPr>
            <a:noAutofit/>
          </a:bodyPr>
          <a:lstStyle/>
          <a:p>
            <a:r>
              <a:rPr lang="en-US" sz="1400" dirty="0"/>
              <a:t>Value Created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Detecting 57% of fraud reduces direct financial losses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Prevents downstream operational, legal, and reputational costs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Enables earlier intervention → lower recovery costs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Reduces fraud‑related customer churn</a:t>
            </a:r>
          </a:p>
          <a:p>
            <a:r>
              <a:rPr lang="en-US" sz="1400" dirty="0"/>
              <a:t>Cost Considerations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Increased manual review workload due to low precision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Infrastructure + model maintenance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Potential customer friction from false positives</a:t>
            </a:r>
          </a:p>
          <a:p>
            <a:r>
              <a:rPr lang="en-US" sz="1400" dirty="0"/>
              <a:t>ROI Equation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sz="1400" dirty="0"/>
              <a:t>ROI = (Fraud Loss Prevented – Operational Review Cost – System Cost)</a:t>
            </a:r>
          </a:p>
          <a:p>
            <a:pPr marL="0" indent="0">
              <a:buNone/>
            </a:pPr>
            <a:r>
              <a:rPr lang="en-US" sz="1400" dirty="0"/>
              <a:t>	Even with low precision, the losses prevented from catching 57% of fraud 	typically outweigh review costs—especially in high‑value transaction 	environments.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Risks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8" y="1631953"/>
            <a:ext cx="7362828" cy="3880773"/>
          </a:xfrm>
        </p:spPr>
        <p:txBody>
          <a:bodyPr>
            <a:normAutofit/>
          </a:bodyPr>
          <a:lstStyle/>
          <a:p>
            <a:r>
              <a:rPr lang="en-PH" dirty="0"/>
              <a:t>Primary Risks Mitigated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PH" dirty="0"/>
              <a:t>Financial loss from undetected fraud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PH" dirty="0"/>
              <a:t>Regulatory exposure (AML/KYC compliance)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PH" dirty="0"/>
              <a:t>Reputational damage from customer fraud incidents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PH" dirty="0"/>
              <a:t>Operational inefficiencies in fraud investigation teams</a:t>
            </a:r>
          </a:p>
          <a:p>
            <a:r>
              <a:rPr lang="en-PH" dirty="0"/>
              <a:t>Residual Risks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PH" dirty="0"/>
              <a:t>High false positives → customer dissatisfaction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PH" dirty="0"/>
              <a:t>Model drift as fraud tactics evolve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PH" dirty="0"/>
              <a:t>Need for continuous monitoring and retraining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Stretegic</a:t>
            </a:r>
            <a:r>
              <a:rPr lang="en-US" dirty="0"/>
              <a:t> Recommendations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46240"/>
            <a:ext cx="6862764" cy="3880773"/>
          </a:xfrm>
        </p:spPr>
        <p:txBody>
          <a:bodyPr>
            <a:normAutofit fontScale="40000" lnSpcReduction="20000"/>
          </a:bodyPr>
          <a:lstStyle/>
          <a:p>
            <a:pPr marL="0" indent="0">
              <a:buNone/>
            </a:pPr>
            <a:r>
              <a:rPr lang="en-US" sz="3400" dirty="0"/>
              <a:t>1. Deploy the Model as a Tier‑1 Fraud Filter</a:t>
            </a:r>
          </a:p>
          <a:p>
            <a:pPr marL="0" indent="0">
              <a:buNone/>
            </a:pPr>
            <a:r>
              <a:rPr lang="en-US" sz="3400" dirty="0"/>
              <a:t> 	Use the </a:t>
            </a:r>
            <a:r>
              <a:rPr lang="en-US" sz="3400" dirty="0" err="1"/>
              <a:t>BalancedBaggingClassifier</a:t>
            </a:r>
            <a:r>
              <a:rPr lang="en-US" sz="3400" dirty="0"/>
              <a:t> as an early‑warning system 	to flag 	high‑risk transactions.</a:t>
            </a:r>
          </a:p>
          <a:p>
            <a:pPr marL="0" indent="0">
              <a:buNone/>
            </a:pPr>
            <a:r>
              <a:rPr lang="en-US" sz="3400" dirty="0"/>
              <a:t>2. Implement a Tier‑2 Precision Layer</a:t>
            </a:r>
          </a:p>
          <a:p>
            <a:pPr marL="0" indent="0">
              <a:buNone/>
            </a:pPr>
            <a:r>
              <a:rPr lang="en-US" sz="3400" dirty="0"/>
              <a:t>	Add downstream models (e.g., </a:t>
            </a:r>
            <a:r>
              <a:rPr lang="en-US" sz="3400" dirty="0" err="1"/>
              <a:t>XGBoost</a:t>
            </a:r>
            <a:r>
              <a:rPr lang="en-US" sz="3400" dirty="0"/>
              <a:t>, Isolation Forest) to 	reduce false 	positives.</a:t>
            </a:r>
          </a:p>
          <a:p>
            <a:pPr marL="0" indent="0">
              <a:buNone/>
            </a:pPr>
            <a:r>
              <a:rPr lang="en-US" sz="3400" dirty="0"/>
              <a:t>3. Introduce Cost‑Sensitive Thresholding</a:t>
            </a:r>
          </a:p>
          <a:p>
            <a:pPr marL="0" indent="0">
              <a:buNone/>
            </a:pPr>
            <a:r>
              <a:rPr lang="en-US" sz="3400" dirty="0"/>
              <a:t>	Optimize thresholds based on financial impact, not accuracy.</a:t>
            </a:r>
          </a:p>
          <a:p>
            <a:pPr marL="0" indent="0">
              <a:buNone/>
            </a:pPr>
            <a:r>
              <a:rPr lang="en-US" sz="3400" dirty="0"/>
              <a:t>4. Invest in Feature Engineering</a:t>
            </a:r>
          </a:p>
          <a:p>
            <a:pPr marL="0" indent="0">
              <a:buNone/>
            </a:pPr>
            <a:r>
              <a:rPr lang="en-US" sz="3400" dirty="0"/>
              <a:t>	Future enhancements recommended in the document include:</a:t>
            </a:r>
          </a:p>
          <a:p>
            <a:pPr marL="0" indent="0">
              <a:buNone/>
            </a:pPr>
            <a:r>
              <a:rPr lang="en-US" sz="3400" dirty="0"/>
              <a:t>	“transaction velocity, spending anomalies per customer, and 	network-based 	features.”</a:t>
            </a:r>
          </a:p>
          <a:p>
            <a:pPr marL="0" indent="0">
              <a:buNone/>
            </a:pPr>
            <a:r>
              <a:rPr lang="en-US" sz="3400" dirty="0"/>
              <a:t>5. Move Toward Real‑Time Scoring</a:t>
            </a:r>
          </a:p>
          <a:p>
            <a:pPr marL="0" indent="0">
              <a:buNone/>
            </a:pPr>
            <a:r>
              <a:rPr lang="en-US" sz="3400" dirty="0"/>
              <a:t>	Supports instant fraud blocking and customer protection.</a:t>
            </a:r>
          </a:p>
          <a:p>
            <a:pPr marL="0" indent="0">
              <a:buNone/>
            </a:pPr>
            <a:endParaRPr lang="en-US" sz="3400" dirty="0"/>
          </a:p>
          <a:p>
            <a:endParaRPr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Strategic Roadmap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31953"/>
            <a:ext cx="6791326" cy="3880773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Phase 1 — Immediate (0–3 months)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Deploy tuned model in shadow mode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Collect false positive/false negative analytics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Begin threshold optimization</a:t>
            </a:r>
          </a:p>
          <a:p>
            <a:r>
              <a:rPr lang="en-US" dirty="0"/>
              <a:t>Phase 2 — Enhancement (3–6 months)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Add advanced features (velocity, anomaly scores)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Introduce secondary precision model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Begin real‑time pipeline design</a:t>
            </a:r>
          </a:p>
          <a:p>
            <a:r>
              <a:rPr lang="en-US" dirty="0"/>
              <a:t>Phase 3 — Scale (6–12 months)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Full production rollout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Real‑time scoring integration</a:t>
            </a:r>
          </a:p>
          <a:p>
            <a:pPr lvl="1">
              <a:buFont typeface="Courier New" panose="02070309020205020404" pitchFamily="49" charset="0"/>
              <a:buChar char="o"/>
            </a:pPr>
            <a:r>
              <a:rPr lang="en-US" dirty="0"/>
              <a:t>Continuous monitoring + retraining pipeline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PH" dirty="0"/>
              <a:t>Executive Summary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631953"/>
            <a:ext cx="6791326" cy="3880773"/>
          </a:xfrm>
        </p:spPr>
        <p:txBody>
          <a:bodyPr>
            <a:normAutofit/>
          </a:bodyPr>
          <a:lstStyle/>
          <a:p>
            <a:r>
              <a:rPr lang="en-US" dirty="0"/>
              <a:t>Fraud is a growing financial and reputational threat</a:t>
            </a:r>
          </a:p>
          <a:p>
            <a:r>
              <a:rPr lang="en-US" dirty="0"/>
              <a:t>Traditional models fail due to extreme class imbalance</a:t>
            </a:r>
          </a:p>
          <a:p>
            <a:r>
              <a:rPr lang="en-US" dirty="0" err="1"/>
              <a:t>BalancedBaggingClassifier</a:t>
            </a:r>
            <a:r>
              <a:rPr lang="en-US" dirty="0"/>
              <a:t> delivers 57% fraud recall—a major breakthrough</a:t>
            </a:r>
          </a:p>
          <a:p>
            <a:r>
              <a:rPr lang="en-US" dirty="0"/>
              <a:t>ROI is driven by loss prevention, even with low precision</a:t>
            </a:r>
          </a:p>
          <a:p>
            <a:r>
              <a:rPr lang="en-US" dirty="0"/>
              <a:t>Strategic next steps can significantly improve precision and operational efficiency</a:t>
            </a:r>
          </a:p>
          <a:p>
            <a:r>
              <a:rPr lang="en-US" dirty="0"/>
              <a:t>Bottom line: This model provides a strong foundation for a modern, scalable fraud detection strategy.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4417572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09749" y="2667000"/>
            <a:ext cx="6347713" cy="1320800"/>
          </a:xfrm>
        </p:spPr>
        <p:txBody>
          <a:bodyPr/>
          <a:lstStyle/>
          <a:p>
            <a:r>
              <a:rPr lang="en-US" dirty="0"/>
              <a:t>End of Presentation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143</TotalTime>
  <Words>820</Words>
  <Application>Microsoft Office PowerPoint</Application>
  <PresentationFormat>On-screen Show (4:3)</PresentationFormat>
  <Paragraphs>96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Arial</vt:lpstr>
      <vt:lpstr>Courier New</vt:lpstr>
      <vt:lpstr>Mona Sans VF</vt:lpstr>
      <vt:lpstr>Trebuchet MS</vt:lpstr>
      <vt:lpstr>Wingdings</vt:lpstr>
      <vt:lpstr>Wingdings 3</vt:lpstr>
      <vt:lpstr>Facet</vt:lpstr>
      <vt:lpstr>Fraud Detection in Banking Transactions</vt:lpstr>
      <vt:lpstr>Introduction</vt:lpstr>
      <vt:lpstr>Success Metrics</vt:lpstr>
      <vt:lpstr>Problem Statement</vt:lpstr>
      <vt:lpstr>Project Goal</vt:lpstr>
      <vt:lpstr>Model Breakthrough</vt:lpstr>
      <vt:lpstr>Final Model Performance</vt:lpstr>
      <vt:lpstr>Financial Impact</vt:lpstr>
      <vt:lpstr>Risks</vt:lpstr>
      <vt:lpstr>Stretegic Recommendations</vt:lpstr>
      <vt:lpstr>Strategic Roadmap</vt:lpstr>
      <vt:lpstr>Executive Summary</vt:lpstr>
      <vt:lpstr>End of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Fraud Detection in Banking Transactions</dc:title>
  <dc:subject/>
  <dc:creator>admin</dc:creator>
  <cp:keywords/>
  <dc:description>generated using python-pptx</dc:description>
  <cp:lastModifiedBy>Andrew Calonzo</cp:lastModifiedBy>
  <cp:revision>9</cp:revision>
  <dcterms:created xsi:type="dcterms:W3CDTF">2013-01-27T09:14:16Z</dcterms:created>
  <dcterms:modified xsi:type="dcterms:W3CDTF">2026-04-09T13:47:05Z</dcterms:modified>
  <cp:category/>
</cp:coreProperties>
</file>