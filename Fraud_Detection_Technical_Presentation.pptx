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5" r:id="rId1"/>
  </p:sldMasterIdLst>
  <p:sldIdLst>
    <p:sldId id="256" r:id="rId2"/>
    <p:sldId id="257" r:id="rId3"/>
    <p:sldId id="274" r:id="rId4"/>
    <p:sldId id="258" r:id="rId5"/>
    <p:sldId id="261" r:id="rId6"/>
    <p:sldId id="264" r:id="rId7"/>
    <p:sldId id="266" r:id="rId8"/>
    <p:sldId id="267" r:id="rId9"/>
    <p:sldId id="268" r:id="rId10"/>
    <p:sldId id="270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5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2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1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2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1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3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4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3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733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7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592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0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8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6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279ACC-3808-4D06-9E4F-C0188F4738A3}"/>
              </a:ext>
            </a:extLst>
          </p:cNvPr>
          <p:cNvSpPr/>
          <p:nvPr/>
        </p:nvSpPr>
        <p:spPr>
          <a:xfrm>
            <a:off x="583405" y="2660650"/>
            <a:ext cx="6915150" cy="1200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418" y="2959100"/>
            <a:ext cx="7777164" cy="1320800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chemeClr val="bg1"/>
                </a:solidFill>
              </a:rPr>
              <a:t>Fraud Detection in Banking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11" y="1674815"/>
            <a:ext cx="7248528" cy="4573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Financial fraud is a major challenge in banking, causing billions in losses annually</a:t>
            </a:r>
          </a:p>
          <a:p>
            <a:r>
              <a:rPr lang="en-US" dirty="0"/>
              <a:t>Both customers and institutions are harmed by evolving fraud tactics</a:t>
            </a:r>
          </a:p>
          <a:p>
            <a:r>
              <a:rPr lang="en-US" dirty="0"/>
              <a:t>Fraud detection is difficult as fraudsters adapt continuously</a:t>
            </a:r>
          </a:p>
          <a:p>
            <a:r>
              <a:rPr lang="en-US" dirty="0"/>
              <a:t>Traditional ML models struggle due to class imbalance (fraud cases are rare)</a:t>
            </a:r>
          </a:p>
          <a:p>
            <a:r>
              <a:rPr lang="en-US" dirty="0"/>
              <a:t>Project goal: develop a fraud detection model using </a:t>
            </a:r>
            <a:r>
              <a:rPr lang="en-US" dirty="0" err="1"/>
              <a:t>FraudShield_Banking_DataFocus</a:t>
            </a:r>
            <a:r>
              <a:rPr lang="en-US" dirty="0"/>
              <a:t>: improve recall for fraud cases while maintaining reasonable precision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i="1" dirty="0"/>
              <a:t>*(Source: https://www.kaggle.com/datasets/zahranusratt/banking-fraud-detection-dataset)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11" y="1457326"/>
            <a:ext cx="7248528" cy="4933950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Technical Metrics</a:t>
            </a:r>
            <a:endParaRPr lang="en-US" sz="48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Recall (Sensitivity):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To minimize missed fraudulent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Precision: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To reduce false alarms (legitimate transactions incorrectly flagged as fraud).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F1-Score: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The harmonic mean of Precision and Recall, providing a balanced measure.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ROC-AUC (Receiver Operating Characteristic - Area Under Curve):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To assess the model's ability to distinguish between fraud and normal transactions across various thresholds.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Confusion Matrix: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For a visual breakdown of true positives, true negatives, false positives, and false negatives.</a:t>
            </a:r>
          </a:p>
          <a:p>
            <a:pPr marL="0" indent="0" algn="l">
              <a:buNone/>
            </a:pPr>
            <a:endParaRPr lang="en-US" sz="4800" b="1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986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30400"/>
            <a:ext cx="7062789" cy="3880773"/>
          </a:xfrm>
        </p:spPr>
        <p:txBody>
          <a:bodyPr>
            <a:normAutofit/>
          </a:bodyPr>
          <a:lstStyle/>
          <a:p>
            <a:r>
              <a:rPr lang="en-PH" dirty="0"/>
              <a:t>~50,000 transactions: 47,573 normal vs. 2,423 fraudulent (~20:1 imbalance)</a:t>
            </a:r>
          </a:p>
          <a:p>
            <a:r>
              <a:rPr lang="en-PH" dirty="0"/>
              <a:t>25 columns: transaction, customer, merchant, fraud label</a:t>
            </a:r>
          </a:p>
          <a:p>
            <a:r>
              <a:rPr lang="en-PH" dirty="0"/>
              <a:t>Severe class imbalance complicates fraud detection</a:t>
            </a:r>
          </a:p>
          <a:p>
            <a:r>
              <a:rPr lang="en-PH" dirty="0"/>
              <a:t>Widespread missing values → required systematic imputation</a:t>
            </a:r>
          </a:p>
          <a:p>
            <a:r>
              <a:rPr lang="en-PH" dirty="0"/>
              <a:t>Mix of numerical &amp; categorical features → careful preprocessing needed</a:t>
            </a:r>
          </a:p>
          <a:p>
            <a:r>
              <a:rPr lang="en-PH" dirty="0"/>
              <a:t>Poor handling risks reduced model performance &amp; reliability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14476"/>
            <a:ext cx="6347714" cy="4312575"/>
          </a:xfrm>
        </p:spPr>
        <p:txBody>
          <a:bodyPr>
            <a:normAutofit/>
          </a:bodyPr>
          <a:lstStyle/>
          <a:p>
            <a:r>
              <a:rPr lang="en-PH" dirty="0"/>
              <a:t>Missing values handled:</a:t>
            </a:r>
          </a:p>
          <a:p>
            <a:pPr marL="400050" lvl="1" indent="0">
              <a:buNone/>
            </a:pPr>
            <a:r>
              <a:rPr lang="en-PH" dirty="0"/>
              <a:t>• 	Numerical → median imputation (robust to outliers)</a:t>
            </a:r>
          </a:p>
          <a:p>
            <a:pPr marL="400050" lvl="1" indent="0">
              <a:buNone/>
            </a:pPr>
            <a:r>
              <a:rPr lang="en-PH" dirty="0"/>
              <a:t>• 	Categorical → mode imputation</a:t>
            </a:r>
          </a:p>
          <a:p>
            <a:r>
              <a:rPr lang="en-PH" dirty="0"/>
              <a:t>Feature engineering: combined date &amp; time → extracted hour, weekday, month</a:t>
            </a:r>
          </a:p>
          <a:p>
            <a:r>
              <a:rPr lang="en-PH" dirty="0"/>
              <a:t>Binary categorical features mapped to 0/1</a:t>
            </a:r>
          </a:p>
          <a:p>
            <a:r>
              <a:rPr lang="en-PH" dirty="0"/>
              <a:t>Other categorical variables one-hot encoded</a:t>
            </a:r>
          </a:p>
          <a:p>
            <a:r>
              <a:rPr lang="en-PH" dirty="0"/>
              <a:t>Dropped irrelevant/high-cardinality IDs (transaction, customer, merchant, device, IP)</a:t>
            </a:r>
          </a:p>
          <a:p>
            <a:r>
              <a:rPr lang="en-PH" dirty="0"/>
              <a:t>Standardized numerical features with </a:t>
            </a:r>
            <a:r>
              <a:rPr lang="en-PH" dirty="0" err="1"/>
              <a:t>StandardScaler</a:t>
            </a:r>
            <a:endParaRPr lang="en-PH" dirty="0"/>
          </a:p>
          <a:p>
            <a:r>
              <a:rPr lang="en-PH" dirty="0"/>
              <a:t>Target variable encoded: normal = 0, fraud = 1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Initial Mode</a:t>
            </a:r>
            <a:r>
              <a:rPr lang="en-US" dirty="0"/>
              <a:t>l Attempts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14488"/>
            <a:ext cx="7005639" cy="4255425"/>
          </a:xfrm>
        </p:spPr>
        <p:txBody>
          <a:bodyPr/>
          <a:lstStyle/>
          <a:p>
            <a:r>
              <a:rPr lang="en-US" dirty="0"/>
              <a:t>Tried </a:t>
            </a:r>
            <a:r>
              <a:rPr lang="en-US" dirty="0" err="1"/>
              <a:t>RandomForestClassifier</a:t>
            </a:r>
            <a:r>
              <a:rPr lang="en-US" dirty="0"/>
              <a:t> with imbalance-handling (SMOTE, class weighting, ADASYN)</a:t>
            </a:r>
          </a:p>
          <a:p>
            <a:r>
              <a:rPr lang="en-US" dirty="0"/>
              <a:t>Models failed to detect fraud → recall = 0%</a:t>
            </a:r>
          </a:p>
          <a:p>
            <a:r>
              <a:rPr lang="en-US" dirty="0"/>
              <a:t>Predictions biased toward majority (normal transactions)</a:t>
            </a:r>
          </a:p>
          <a:p>
            <a:r>
              <a:rPr lang="en-US" dirty="0"/>
              <a:t>Accuracy appeared acceptable but was misleading</a:t>
            </a:r>
          </a:p>
          <a:p>
            <a:r>
              <a:rPr lang="en-US" dirty="0"/>
              <a:t>Highlighted limitations of conventional methods in extreme imbalance</a:t>
            </a:r>
          </a:p>
          <a:p>
            <a:r>
              <a:rPr lang="en-US" dirty="0"/>
              <a:t>Underscored need for specialized algorithms for imbalanced datasets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BalancedBaggingClassifier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899" y="1820868"/>
            <a:ext cx="6748464" cy="3880773"/>
          </a:xfrm>
        </p:spPr>
        <p:txBody>
          <a:bodyPr/>
          <a:lstStyle/>
          <a:p>
            <a:r>
              <a:rPr lang="en-PH" dirty="0"/>
              <a:t>Ensemble method tailored for imbalanced data</a:t>
            </a:r>
          </a:p>
          <a:p>
            <a:r>
              <a:rPr lang="en-PH" dirty="0"/>
              <a:t>Trains base estimators on balanced bootstrapped samples</a:t>
            </a:r>
          </a:p>
          <a:p>
            <a:r>
              <a:rPr lang="en-PH" dirty="0"/>
              <a:t>Achieved recall = 23.52% → first successful fraud detection</a:t>
            </a:r>
          </a:p>
          <a:p>
            <a:r>
              <a:rPr lang="en-PH" dirty="0"/>
              <a:t>Precision low at 6.19% → many false positives</a:t>
            </a:r>
          </a:p>
          <a:p>
            <a:r>
              <a:rPr lang="en-PH" dirty="0"/>
              <a:t>Demonstrated promise where other models failed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31953"/>
            <a:ext cx="7362828" cy="3880773"/>
          </a:xfrm>
        </p:spPr>
        <p:txBody>
          <a:bodyPr>
            <a:normAutofit lnSpcReduction="10000"/>
          </a:bodyPr>
          <a:lstStyle/>
          <a:p>
            <a:r>
              <a:rPr lang="en-PH" dirty="0"/>
              <a:t>Conducted with </a:t>
            </a:r>
            <a:r>
              <a:rPr lang="en-PH" dirty="0" err="1"/>
              <a:t>RandomizedSearchCV</a:t>
            </a:r>
            <a:r>
              <a:rPr lang="en-PH" dirty="0"/>
              <a:t>, recall as scoring metric</a:t>
            </a:r>
          </a:p>
          <a:p>
            <a:r>
              <a:rPr lang="en-PH" dirty="0"/>
              <a:t>Parameter grid: estimators, max features, max depth, min samples per leaf</a:t>
            </a:r>
          </a:p>
          <a:p>
            <a:r>
              <a:rPr lang="en-PH" dirty="0"/>
              <a:t>Applied 3-fold cross-validation for robustness</a:t>
            </a:r>
          </a:p>
          <a:p>
            <a:r>
              <a:rPr lang="en-PH" dirty="0"/>
              <a:t>Best parameters:</a:t>
            </a:r>
          </a:p>
          <a:p>
            <a:pPr marL="0" indent="0">
              <a:buNone/>
            </a:pPr>
            <a:r>
              <a:rPr lang="en-PH" dirty="0"/>
              <a:t>	• 	100 estimators</a:t>
            </a:r>
          </a:p>
          <a:p>
            <a:pPr marL="0" indent="0">
              <a:buNone/>
            </a:pPr>
            <a:r>
              <a:rPr lang="en-PH" dirty="0"/>
              <a:t>	• 	Max features = 0.8</a:t>
            </a:r>
          </a:p>
          <a:p>
            <a:pPr marL="0" indent="0">
              <a:buNone/>
            </a:pPr>
            <a:r>
              <a:rPr lang="en-PH" dirty="0"/>
              <a:t>	• 	Max depth = 5</a:t>
            </a:r>
          </a:p>
          <a:p>
            <a:pPr marL="0" indent="0">
              <a:buNone/>
            </a:pPr>
            <a:r>
              <a:rPr lang="en-PH" dirty="0"/>
              <a:t>	• 	Min samples per leaf = 10</a:t>
            </a:r>
          </a:p>
          <a:p>
            <a:r>
              <a:rPr lang="en-PH" dirty="0"/>
              <a:t>Achieved recall = 56.62% → significant improvement over initial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46240"/>
            <a:ext cx="6862764" cy="3880773"/>
          </a:xfrm>
        </p:spPr>
        <p:txBody>
          <a:bodyPr/>
          <a:lstStyle/>
          <a:p>
            <a:r>
              <a:rPr lang="en-US" dirty="0"/>
              <a:t>Accuracy: 57.39%</a:t>
            </a:r>
          </a:p>
          <a:p>
            <a:r>
              <a:rPr lang="en-US" dirty="0"/>
              <a:t>Fraud precision: 6.69% (slight improvement)</a:t>
            </a:r>
          </a:p>
          <a:p>
            <a:r>
              <a:rPr lang="en-US" dirty="0"/>
              <a:t>Fraud recall: 57.16% (major improvement, &gt; half of fraud cases detected)</a:t>
            </a:r>
          </a:p>
          <a:p>
            <a:r>
              <a:rPr lang="en-US" dirty="0"/>
              <a:t>F1-score (fraud): 0.1198</a:t>
            </a:r>
          </a:p>
          <a:p>
            <a:r>
              <a:rPr lang="en-US" dirty="0"/>
              <a:t>ROC-AUC: 0.6077</a:t>
            </a:r>
          </a:p>
          <a:p>
            <a:r>
              <a:rPr lang="en-US" dirty="0"/>
              <a:t>Key insight: trade-off between precision &amp; recall</a:t>
            </a:r>
          </a:p>
          <a:p>
            <a:r>
              <a:rPr lang="en-US" dirty="0"/>
              <a:t>Model prioritizes recall to minimize missed fraud cases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1953"/>
            <a:ext cx="6791326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Successfully tackled challenges of highly imbalanced dataset</a:t>
            </a:r>
          </a:p>
          <a:p>
            <a:r>
              <a:rPr lang="en-US" dirty="0"/>
              <a:t>Identified </a:t>
            </a:r>
            <a:r>
              <a:rPr lang="en-US" dirty="0" err="1"/>
              <a:t>BalancedBaggingClassifier</a:t>
            </a:r>
            <a:r>
              <a:rPr lang="en-US" dirty="0"/>
              <a:t> as most effective model</a:t>
            </a:r>
          </a:p>
          <a:p>
            <a:r>
              <a:rPr lang="en-US" dirty="0"/>
              <a:t>Hyperparameter tuning boosted fraud recall to 57.16% (from 0%)</a:t>
            </a:r>
          </a:p>
          <a:p>
            <a:r>
              <a:rPr lang="en-US" dirty="0"/>
              <a:t>Demonstrated importance of specialized techniques for imbalanced data</a:t>
            </a:r>
          </a:p>
          <a:p>
            <a:r>
              <a:rPr lang="en-US" dirty="0"/>
              <a:t>Improved recall came with low precision → many false positives</a:t>
            </a:r>
          </a:p>
          <a:p>
            <a:r>
              <a:rPr lang="en-US" dirty="0"/>
              <a:t>Real-world impact: false positives risk customer dissatisfaction &amp; inefficiencies</a:t>
            </a:r>
          </a:p>
          <a:p>
            <a:r>
              <a:rPr lang="en-US" dirty="0"/>
              <a:t>Trade-off between recall and precision must be carefully managed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49" y="2667000"/>
            <a:ext cx="6347713" cy="1320800"/>
          </a:xfrm>
        </p:spPr>
        <p:txBody>
          <a:bodyPr/>
          <a:lstStyle/>
          <a:p>
            <a:r>
              <a:rPr lang="en-US" dirty="0"/>
              <a:t>End of Presentation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609</Words>
  <Application>Microsoft Office PowerPoint</Application>
  <PresentationFormat>On-screen Show (4:3)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Mona Sans VF</vt:lpstr>
      <vt:lpstr>Trebuchet MS</vt:lpstr>
      <vt:lpstr>Wingdings 3</vt:lpstr>
      <vt:lpstr>Facet</vt:lpstr>
      <vt:lpstr>Fraud Detection in Banking Transactions</vt:lpstr>
      <vt:lpstr>Introduction</vt:lpstr>
      <vt:lpstr>Success Metrics</vt:lpstr>
      <vt:lpstr>Dataset Overview</vt:lpstr>
      <vt:lpstr>Data Preprocessing</vt:lpstr>
      <vt:lpstr>Initial Model Attempts</vt:lpstr>
      <vt:lpstr>BalancedBaggingClassifier</vt:lpstr>
      <vt:lpstr>Hyperparameter Tuning</vt:lpstr>
      <vt:lpstr>Final Performance</vt:lpstr>
      <vt:lpstr>Conclusion</vt:lpstr>
      <vt:lpstr>End of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in Banking Transactions</dc:title>
  <dc:subject/>
  <dc:creator>admin</dc:creator>
  <cp:keywords/>
  <dc:description>generated using python-pptx</dc:description>
  <cp:lastModifiedBy>Andrew Calonzo</cp:lastModifiedBy>
  <cp:revision>6</cp:revision>
  <dcterms:created xsi:type="dcterms:W3CDTF">2013-01-27T09:14:16Z</dcterms:created>
  <dcterms:modified xsi:type="dcterms:W3CDTF">2026-04-09T12:02:24Z</dcterms:modified>
  <cp:category/>
</cp:coreProperties>
</file>